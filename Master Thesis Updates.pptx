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57" r:id="rId4"/>
    <p:sldId id="266" r:id="rId5"/>
    <p:sldId id="265" r:id="rId6"/>
    <p:sldId id="264" r:id="rId7"/>
    <p:sldId id="260" r:id="rId8"/>
    <p:sldId id="259" r:id="rId9"/>
    <p:sldId id="261" r:id="rId10"/>
    <p:sldId id="262" r:id="rId11"/>
    <p:sldId id="258" r:id="rId1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>
        <p:scale>
          <a:sx n="75" d="100"/>
          <a:sy n="75" d="100"/>
        </p:scale>
        <p:origin x="177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C2C6B-1EC2-486B-91A4-909D1FEE0276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FF5565-A286-40EC-9626-D8188B2D2F6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0215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F5565-A286-40EC-9626-D8188B2D2F64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98017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F342-0DD9-B59A-C330-9CF9C5357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40758-F515-78FF-141D-7CFB4F647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89EE5-0CCF-DEA9-4BF1-61A47C4D7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50CF4-35BA-7A9F-C4B3-EBC858D5E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F5565-A286-40EC-9626-D8188B2D2F64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9705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5CB1A-9D5E-612D-ECA4-3D4D5D4C2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D76BE-290E-3EF2-61FD-66E758D4D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822D2E-4336-C2DE-03CE-A5BF0BE24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05C1B-B2F1-65F9-8229-06A05C5C0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F5565-A286-40EC-9626-D8188B2D2F64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2692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8C58F-BE2E-0E9B-6533-CAF2C57B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430B3-C55F-F9DA-7AAC-C56CAB603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12C89-C1EE-0514-82AA-56A79F168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922C3-73A6-1127-6AC1-D613CF41F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F5565-A286-40EC-9626-D8188B2D2F64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2585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9F67F-4728-9560-B035-6FEAAFE3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8811D-A368-91FF-7812-322218CBE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7EA00-7A30-0219-29EC-416D97BC0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E25E5-BAB1-E212-85C3-38A9C8B92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F5565-A286-40EC-9626-D8188B2D2F64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025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4559C-A58F-F6D6-7BAE-069CC3C91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3811E-6D3F-EF6A-9370-56C0540D4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39EAB-C54D-D070-7CF9-41D9BFA83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4CCBB-E48D-D7A5-1925-78A342D81A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F5565-A286-40EC-9626-D8188B2D2F64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8137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FA11C-31C6-17C4-BC85-03ADC6EA5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F9A76-3485-B7B2-B618-BBA81F2EB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771AB-0957-586E-61F8-B41A2A089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61F13-F33C-7C07-9459-6E01DC685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F5565-A286-40EC-9626-D8188B2D2F64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71817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BD24B-0E63-42AC-A3C1-EA909DC5E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A5F04-12A1-9E17-2606-D05EADC50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4346E-C4AC-D2C7-1FFB-62EFA8BA4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681CE-1853-A83E-BAF5-FE8F02147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F5565-A286-40EC-9626-D8188B2D2F64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8246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8E113-6726-F0E3-8C84-E2FB791C3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BEFDC-EB5A-E6FB-5BF6-81444E596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F4BF1-422C-DC15-273E-6B1FB979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E9BD-4944-43A0-B7B5-5426B3256249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22809-1AD6-D0F4-ED19-FD65B0450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8EAD9-AC20-D8AF-0CC4-763AD47C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8577-80FE-4B67-900B-CF3755B9F02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3021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E9CE-09F2-75FF-6FE7-3A805D722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67E33-0A8B-18F2-31BD-97E724623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3B797-9198-E895-2EC3-B3C649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E9BD-4944-43A0-B7B5-5426B3256249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FE03-71C0-E3F0-2E4B-1991341D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1D9EF-D10E-55CF-3A53-D67694047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8577-80FE-4B67-900B-CF3755B9F02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1397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13242-B4AF-1F88-A2E9-1A3E3BA3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2004B-46F6-01E5-E054-F93C32ABF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33ADE-D01A-0AC4-F0BA-A836ABB83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E9BD-4944-43A0-B7B5-5426B3256249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5A7FC-FE33-8E94-1E8F-3005F89C8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29D50-97EF-03A7-B8EA-736676140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8577-80FE-4B67-900B-CF3755B9F02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87839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761D3-25E3-FF1A-C8B2-6654AFF10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99052-D306-7A5E-F02C-59051406C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B77F6-5AFE-B844-6636-62F89BEBA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69367-3DD7-5CC9-FF69-55125D3E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E9BD-4944-43A0-B7B5-5426B3256249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8BE9F-15B9-C29F-D1F2-CD474D97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C6E7B-365F-F1B6-D023-0D39D80A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8577-80FE-4B67-900B-CF3755B9F02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72534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D77B-377E-E195-8481-2429D5FF3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62CEB-387D-69E0-7D01-6D9D23C01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635FA-9508-F7F9-27A8-619D354CF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2536C1-80C6-D25A-6843-CC8D3D671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CFB0E-D8FE-24BD-290F-F9E4A90EF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07B53-513D-26BB-F467-812FCFAD8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E9BD-4944-43A0-B7B5-5426B3256249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F23B8C-147C-E3A5-5018-6FAC10375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D86BB9-C074-0BF9-C3AD-E156D6090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8577-80FE-4B67-900B-CF3755B9F02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5041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E8C81-E0AF-C83F-7935-4DFBD23BB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3B34F7-4783-1756-D5A8-589267E79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E9BD-4944-43A0-B7B5-5426B3256249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FF20D5-BE7A-F9BF-0F3E-2F629B46E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287B3-6626-956A-285F-FF51373E8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8577-80FE-4B67-900B-CF3755B9F02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384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79139-2790-1340-ABE2-596B6595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E9BD-4944-43A0-B7B5-5426B3256249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7161A-0187-2A32-234C-30F21A5D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3702F-3893-CFCF-A8C1-C9DF4192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8577-80FE-4B67-900B-CF3755B9F02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052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85CE3-8AEA-603B-3F56-E844B5F82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57E87-E7B0-AE2A-A15C-C8CF66CB6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EFAD3-BA31-F54A-A0DA-537134F7A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F2ED9-0C91-00D5-71EA-768D29E5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E9BD-4944-43A0-B7B5-5426B3256249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EC455-F3A9-0EF9-C42D-E09F3D1A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38115-39E1-99C1-4D77-5FAEFC4C5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8577-80FE-4B67-900B-CF3755B9F02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35073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C68C-C0F5-7CCA-10D8-972359752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D8605-1CD9-C251-5895-9C3B761F7F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607C0-678F-47E1-894E-2D37AE250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F6918-00D4-D005-168B-A4430A299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E9BD-4944-43A0-B7B5-5426B3256249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0169E-9A0F-153B-24E3-2252603C9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D7C3D-E966-078A-EFE6-A6789783D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8577-80FE-4B67-900B-CF3755B9F02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6889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BDE1-1FE3-5CAE-391A-10EB18B1E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FB561-579F-CA1B-F73A-B3EF9B5C6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DA32B-71F1-4E07-71EB-0D5F145C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E9BD-4944-43A0-B7B5-5426B3256249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CF44-4B08-E461-5EDE-D55B6462B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0F79C-179E-3373-660F-261F5DD7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8577-80FE-4B67-900B-CF3755B9F02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408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B1E75-93CC-1A37-063C-E5AE838CC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7D517-FDFF-5E99-C05B-CF03AA77D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37872-732E-8EDD-267D-307296D91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E9BD-4944-43A0-B7B5-5426B3256249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8555F-3269-F1A0-4238-DDBAC697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7A951-CD6B-9F7D-375D-94D92A19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8577-80FE-4B67-900B-CF3755B9F02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22395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A28D6-DE79-EC65-A10E-35A2DCA41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ADF70-00ED-2EAB-81FA-B2A2DB247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0FEB-E2DA-1A3C-46F0-4478B6264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DE9BD-4944-43A0-B7B5-5426B3256249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0D0E6-BF80-3F2F-AA8C-7D9AFFB68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0D91A-B1D9-57BB-7E12-838598696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F8577-80FE-4B67-900B-CF3755B9F02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706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github.com/google-deepmind/hanabi-learning-environment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7938-D283-4B9B-A19D-DBFA5C7D9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6263"/>
            <a:ext cx="9144000" cy="2387600"/>
          </a:xfrm>
        </p:spPr>
        <p:txBody>
          <a:bodyPr/>
          <a:lstStyle/>
          <a:p>
            <a:r>
              <a:rPr lang="de-DE" dirty="0"/>
              <a:t>Master Thesis Updates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EC4CD-8A6F-6A9B-D81F-94731D5F0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55938"/>
            <a:ext cx="9144000" cy="1655762"/>
          </a:xfrm>
        </p:spPr>
        <p:txBody>
          <a:bodyPr/>
          <a:lstStyle/>
          <a:p>
            <a:r>
              <a:rPr lang="de-DE" dirty="0"/>
              <a:t>Moritz Sölderer</a:t>
            </a:r>
            <a:endParaRPr lang="LID4096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981B88-C074-CC12-B560-6A09772431D5}"/>
              </a:ext>
            </a:extLst>
          </p:cNvPr>
          <p:cNvSpPr/>
          <p:nvPr/>
        </p:nvSpPr>
        <p:spPr>
          <a:xfrm>
            <a:off x="-292608" y="4187952"/>
            <a:ext cx="12691872" cy="28529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18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A1A63-CA62-928A-2FA3-EF845BBC8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DF9E6-B28D-5015-1A39-DCB5B5B23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741738"/>
            <a:ext cx="9144000" cy="446214"/>
          </a:xfrm>
        </p:spPr>
        <p:txBody>
          <a:bodyPr/>
          <a:lstStyle/>
          <a:p>
            <a:pPr algn="l"/>
            <a:r>
              <a:rPr lang="de-DE" dirty="0"/>
              <a:t>17.04.2026</a:t>
            </a:r>
            <a:endParaRPr lang="LID4096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A0A81D-5689-2068-0EA6-D46ABE9F558B}"/>
              </a:ext>
            </a:extLst>
          </p:cNvPr>
          <p:cNvSpPr/>
          <p:nvPr/>
        </p:nvSpPr>
        <p:spPr>
          <a:xfrm>
            <a:off x="-292608" y="4187952"/>
            <a:ext cx="12691872" cy="28529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84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0AB8EFA-0B47-B1CF-3B5F-4152BF5C50C0}"/>
              </a:ext>
            </a:extLst>
          </p:cNvPr>
          <p:cNvSpPr txBox="1">
            <a:spLocks/>
          </p:cNvSpPr>
          <p:nvPr/>
        </p:nvSpPr>
        <p:spPr>
          <a:xfrm>
            <a:off x="472696" y="266915"/>
            <a:ext cx="10515600" cy="5358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/>
              <a:t>Background on Peer Incentivation</a:t>
            </a:r>
            <a:endParaRPr lang="LID4096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446DC-6AEC-3BB1-6210-3AE81906222D}"/>
              </a:ext>
            </a:extLst>
          </p:cNvPr>
          <p:cNvSpPr txBox="1"/>
          <p:nvPr/>
        </p:nvSpPr>
        <p:spPr>
          <a:xfrm>
            <a:off x="472696" y="1159223"/>
            <a:ext cx="9860968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b="1" dirty="0"/>
              <a:t>How to achieve Cooperation between Agents?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Joint Objective (Centralized)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Peer Incentivation (Decentralized)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MATE: fixed Token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DRIVE: Token dependent on Epoch-Average Rewards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0258256-CEC9-4241-0BEE-E4AB5D0EC2EB}"/>
              </a:ext>
            </a:extLst>
          </p:cNvPr>
          <p:cNvGrpSpPr/>
          <p:nvPr/>
        </p:nvGrpSpPr>
        <p:grpSpPr>
          <a:xfrm>
            <a:off x="863600" y="5241577"/>
            <a:ext cx="3581400" cy="914400"/>
            <a:chOff x="1028700" y="4394200"/>
            <a:chExt cx="3581400" cy="914400"/>
          </a:xfrm>
        </p:grpSpPr>
        <p:pic>
          <p:nvPicPr>
            <p:cNvPr id="26" name="Graphic 25" descr="User with solid fill">
              <a:extLst>
                <a:ext uri="{FF2B5EF4-FFF2-40B4-BE49-F238E27FC236}">
                  <a16:creationId xmlns:a16="http://schemas.microsoft.com/office/drawing/2014/main" id="{9A4D661C-8D19-306A-3954-06D609A92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8700" y="4394200"/>
              <a:ext cx="914400" cy="914400"/>
            </a:xfrm>
            <a:prstGeom prst="rect">
              <a:avLst/>
            </a:prstGeom>
          </p:spPr>
        </p:pic>
        <p:pic>
          <p:nvPicPr>
            <p:cNvPr id="27" name="Graphic 26" descr="User with solid fill">
              <a:extLst>
                <a:ext uri="{FF2B5EF4-FFF2-40B4-BE49-F238E27FC236}">
                  <a16:creationId xmlns:a16="http://schemas.microsoft.com/office/drawing/2014/main" id="{A4EB28FF-51A8-DD48-9B2E-452DFC686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05000" y="4394200"/>
              <a:ext cx="914400" cy="914400"/>
            </a:xfrm>
            <a:prstGeom prst="rect">
              <a:avLst/>
            </a:prstGeom>
          </p:spPr>
        </p:pic>
        <p:pic>
          <p:nvPicPr>
            <p:cNvPr id="28" name="Graphic 27" descr="User with solid fill">
              <a:extLst>
                <a:ext uri="{FF2B5EF4-FFF2-40B4-BE49-F238E27FC236}">
                  <a16:creationId xmlns:a16="http://schemas.microsoft.com/office/drawing/2014/main" id="{C187F615-A9A7-DD4C-0E56-9903BCB01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19400" y="4394200"/>
              <a:ext cx="914400" cy="914400"/>
            </a:xfrm>
            <a:prstGeom prst="rect">
              <a:avLst/>
            </a:prstGeom>
          </p:spPr>
        </p:pic>
        <p:pic>
          <p:nvPicPr>
            <p:cNvPr id="29" name="Graphic 28" descr="User with solid fill">
              <a:extLst>
                <a:ext uri="{FF2B5EF4-FFF2-40B4-BE49-F238E27FC236}">
                  <a16:creationId xmlns:a16="http://schemas.microsoft.com/office/drawing/2014/main" id="{E9F8EEA6-B4FA-EBBB-04A6-EA66EC24C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95700" y="4394200"/>
              <a:ext cx="914400" cy="914400"/>
            </a:xfrm>
            <a:prstGeom prst="rect">
              <a:avLst/>
            </a:prstGeom>
          </p:spPr>
        </p:pic>
      </p:grpSp>
      <p:pic>
        <p:nvPicPr>
          <p:cNvPr id="31" name="Graphic 30" descr="User with solid fill">
            <a:extLst>
              <a:ext uri="{FF2B5EF4-FFF2-40B4-BE49-F238E27FC236}">
                <a16:creationId xmlns:a16="http://schemas.microsoft.com/office/drawing/2014/main" id="{9FF722CB-568D-01C6-C492-95B7FDAE0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5600" y="5241577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72108CE-40FB-F28C-1E8B-99EC6E4A5324}"/>
                  </a:ext>
                </a:extLst>
              </p:cNvPr>
              <p:cNvSpPr txBox="1"/>
              <p:nvPr/>
            </p:nvSpPr>
            <p:spPr>
              <a:xfrm>
                <a:off x="2334629" y="4077037"/>
                <a:ext cx="639341" cy="10156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6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72108CE-40FB-F28C-1E8B-99EC6E4A5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629" y="4077037"/>
                <a:ext cx="639341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DAA281A-C001-AC22-66D9-5A3A591AA79B}"/>
              </a:ext>
            </a:extLst>
          </p:cNvPr>
          <p:cNvCxnSpPr>
            <a:endCxn id="32" idx="1"/>
          </p:cNvCxnSpPr>
          <p:nvPr/>
        </p:nvCxnSpPr>
        <p:spPr>
          <a:xfrm flipV="1">
            <a:off x="1320800" y="4584869"/>
            <a:ext cx="1013829" cy="656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D9A2642-2306-FC48-BF4C-FD504A82C183}"/>
              </a:ext>
            </a:extLst>
          </p:cNvPr>
          <p:cNvCxnSpPr/>
          <p:nvPr/>
        </p:nvCxnSpPr>
        <p:spPr>
          <a:xfrm flipV="1">
            <a:off x="2197100" y="4927600"/>
            <a:ext cx="241300" cy="313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DFAF08D-D97C-12D1-2B8F-895949D6014B}"/>
              </a:ext>
            </a:extLst>
          </p:cNvPr>
          <p:cNvCxnSpPr/>
          <p:nvPr/>
        </p:nvCxnSpPr>
        <p:spPr>
          <a:xfrm flipH="1" flipV="1">
            <a:off x="2844800" y="4913223"/>
            <a:ext cx="266700" cy="328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DD005BD-B8E1-6D50-E371-D1C775B9A814}"/>
              </a:ext>
            </a:extLst>
          </p:cNvPr>
          <p:cNvCxnSpPr/>
          <p:nvPr/>
        </p:nvCxnSpPr>
        <p:spPr>
          <a:xfrm flipH="1" flipV="1">
            <a:off x="3111500" y="4584868"/>
            <a:ext cx="876300" cy="656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Graphic 40" descr="User with solid fill">
            <a:extLst>
              <a:ext uri="{FF2B5EF4-FFF2-40B4-BE49-F238E27FC236}">
                <a16:creationId xmlns:a16="http://schemas.microsoft.com/office/drawing/2014/main" id="{7F664D65-E4B8-88D9-C726-B496D078F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5000" y="5241577"/>
            <a:ext cx="914400" cy="914400"/>
          </a:xfrm>
          <a:prstGeom prst="rect">
            <a:avLst/>
          </a:prstGeom>
        </p:spPr>
      </p:pic>
      <p:pic>
        <p:nvPicPr>
          <p:cNvPr id="42" name="Graphic 41" descr="User with solid fill">
            <a:extLst>
              <a:ext uri="{FF2B5EF4-FFF2-40B4-BE49-F238E27FC236}">
                <a16:creationId xmlns:a16="http://schemas.microsoft.com/office/drawing/2014/main" id="{D8FFB9B9-D58B-D44C-2A3F-F7EC6C898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4030" y="4178300"/>
            <a:ext cx="914400" cy="914400"/>
          </a:xfrm>
          <a:prstGeom prst="rect">
            <a:avLst/>
          </a:prstGeom>
        </p:spPr>
      </p:pic>
      <p:pic>
        <p:nvPicPr>
          <p:cNvPr id="43" name="Graphic 42" descr="User with solid fill">
            <a:extLst>
              <a:ext uri="{FF2B5EF4-FFF2-40B4-BE49-F238E27FC236}">
                <a16:creationId xmlns:a16="http://schemas.microsoft.com/office/drawing/2014/main" id="{0B8D36BD-5170-0B8C-08C8-17F8B3F8F1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163000"/>
            <a:ext cx="914400" cy="914400"/>
          </a:xfrm>
          <a:prstGeom prst="rect">
            <a:avLst/>
          </a:prstGeom>
        </p:spPr>
      </p:pic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id="{D8D61594-BFEA-094C-230A-0E289CE6C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6100" y="3225869"/>
            <a:ext cx="914400" cy="914400"/>
          </a:xfrm>
          <a:prstGeom prst="rect">
            <a:avLst/>
          </a:prstGeom>
        </p:spPr>
      </p:pic>
      <p:pic>
        <p:nvPicPr>
          <p:cNvPr id="45" name="Graphic 44" descr="User with solid fill">
            <a:extLst>
              <a:ext uri="{FF2B5EF4-FFF2-40B4-BE49-F238E27FC236}">
                <a16:creationId xmlns:a16="http://schemas.microsoft.com/office/drawing/2014/main" id="{62F1B484-6767-026B-823C-EA7466B2C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6082" y="3225869"/>
            <a:ext cx="914400" cy="914400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4FCCFE0-6E57-4167-C640-71925AEEB1CF}"/>
              </a:ext>
            </a:extLst>
          </p:cNvPr>
          <p:cNvCxnSpPr/>
          <p:nvPr/>
        </p:nvCxnSpPr>
        <p:spPr>
          <a:xfrm>
            <a:off x="6553200" y="5092700"/>
            <a:ext cx="342900" cy="342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004FB71-6676-B8EE-1E9C-C3780829E722}"/>
              </a:ext>
            </a:extLst>
          </p:cNvPr>
          <p:cNvCxnSpPr/>
          <p:nvPr/>
        </p:nvCxnSpPr>
        <p:spPr>
          <a:xfrm flipV="1">
            <a:off x="6553200" y="3835400"/>
            <a:ext cx="342900" cy="3048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0C9B77F-658A-F104-D93D-409820D0192D}"/>
              </a:ext>
            </a:extLst>
          </p:cNvPr>
          <p:cNvCxnSpPr/>
          <p:nvPr/>
        </p:nvCxnSpPr>
        <p:spPr>
          <a:xfrm>
            <a:off x="7620000" y="3683069"/>
            <a:ext cx="5461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E25B25B-6E20-61E0-9242-5B5D9858085D}"/>
              </a:ext>
            </a:extLst>
          </p:cNvPr>
          <p:cNvCxnSpPr>
            <a:cxnSpLocks/>
          </p:cNvCxnSpPr>
          <p:nvPr/>
        </p:nvCxnSpPr>
        <p:spPr>
          <a:xfrm>
            <a:off x="8964030" y="4077037"/>
            <a:ext cx="205370" cy="2536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5E9374E-4075-CA26-D092-2600596395C5}"/>
              </a:ext>
            </a:extLst>
          </p:cNvPr>
          <p:cNvCxnSpPr/>
          <p:nvPr/>
        </p:nvCxnSpPr>
        <p:spPr>
          <a:xfrm>
            <a:off x="7620000" y="5698777"/>
            <a:ext cx="635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919E3AD-FF38-2CD1-E313-E5F249217812}"/>
              </a:ext>
            </a:extLst>
          </p:cNvPr>
          <p:cNvCxnSpPr/>
          <p:nvPr/>
        </p:nvCxnSpPr>
        <p:spPr>
          <a:xfrm flipV="1">
            <a:off x="8964030" y="5092700"/>
            <a:ext cx="45720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3BEA83A-2A8E-BE25-E4F3-09E9584E83DE}"/>
              </a:ext>
            </a:extLst>
          </p:cNvPr>
          <p:cNvCxnSpPr/>
          <p:nvPr/>
        </p:nvCxnSpPr>
        <p:spPr>
          <a:xfrm flipV="1">
            <a:off x="7010400" y="4620200"/>
            <a:ext cx="1960082" cy="15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F6A3862-9618-78FF-E568-4B89D8344370}"/>
              </a:ext>
            </a:extLst>
          </p:cNvPr>
          <p:cNvCxnSpPr>
            <a:endCxn id="31" idx="0"/>
          </p:cNvCxnSpPr>
          <p:nvPr/>
        </p:nvCxnSpPr>
        <p:spPr>
          <a:xfrm flipH="1">
            <a:off x="7162800" y="4140269"/>
            <a:ext cx="190500" cy="11013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F938ED8-D8B6-8183-C0F0-95BF4740B08A}"/>
              </a:ext>
            </a:extLst>
          </p:cNvPr>
          <p:cNvCxnSpPr>
            <a:endCxn id="41" idx="0"/>
          </p:cNvCxnSpPr>
          <p:nvPr/>
        </p:nvCxnSpPr>
        <p:spPr>
          <a:xfrm>
            <a:off x="8513282" y="4163000"/>
            <a:ext cx="198918" cy="1078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E89F903-7A65-A880-3C60-706DE8CA61CE}"/>
              </a:ext>
            </a:extLst>
          </p:cNvPr>
          <p:cNvCxnSpPr/>
          <p:nvPr/>
        </p:nvCxnSpPr>
        <p:spPr>
          <a:xfrm flipV="1">
            <a:off x="7162800" y="4203868"/>
            <a:ext cx="1350482" cy="10377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91034F7-DB30-5AEA-5FF5-E1BDD1461654}"/>
              </a:ext>
            </a:extLst>
          </p:cNvPr>
          <p:cNvCxnSpPr/>
          <p:nvPr/>
        </p:nvCxnSpPr>
        <p:spPr>
          <a:xfrm>
            <a:off x="7353300" y="4140269"/>
            <a:ext cx="1358900" cy="11013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537732D-EA39-4D07-91EF-7FF4BD7DA88C}"/>
              </a:ext>
            </a:extLst>
          </p:cNvPr>
          <p:cNvCxnSpPr/>
          <p:nvPr/>
        </p:nvCxnSpPr>
        <p:spPr>
          <a:xfrm flipV="1">
            <a:off x="7010400" y="4178300"/>
            <a:ext cx="1502882" cy="4065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1F25E61-6595-ACA3-37C1-9C909C316317}"/>
              </a:ext>
            </a:extLst>
          </p:cNvPr>
          <p:cNvCxnSpPr/>
          <p:nvPr/>
        </p:nvCxnSpPr>
        <p:spPr>
          <a:xfrm>
            <a:off x="7353300" y="4140269"/>
            <a:ext cx="1610730" cy="4445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511511D-A654-7107-50B0-810C9CFE7440}"/>
              </a:ext>
            </a:extLst>
          </p:cNvPr>
          <p:cNvCxnSpPr/>
          <p:nvPr/>
        </p:nvCxnSpPr>
        <p:spPr>
          <a:xfrm flipH="1">
            <a:off x="7162800" y="4635500"/>
            <a:ext cx="1801230" cy="606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5C2D446-BF70-EF84-BCE3-9BD21B8CD0D1}"/>
              </a:ext>
            </a:extLst>
          </p:cNvPr>
          <p:cNvCxnSpPr/>
          <p:nvPr/>
        </p:nvCxnSpPr>
        <p:spPr>
          <a:xfrm>
            <a:off x="7010400" y="4620200"/>
            <a:ext cx="1701800" cy="6213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776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DD4B7-389E-7C29-60F5-602DAB082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F0656B-97BA-5F8F-51AD-8014BE68E4BA}"/>
              </a:ext>
            </a:extLst>
          </p:cNvPr>
          <p:cNvSpPr txBox="1">
            <a:spLocks/>
          </p:cNvSpPr>
          <p:nvPr/>
        </p:nvSpPr>
        <p:spPr>
          <a:xfrm>
            <a:off x="472696" y="266915"/>
            <a:ext cx="10515600" cy="5358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/>
              <a:t>DRIVE: </a:t>
            </a:r>
            <a:r>
              <a:rPr lang="en-US" sz="3200" dirty="0"/>
              <a:t>Dynamic Reward Incentives for Variable Exchange</a:t>
            </a:r>
            <a:r>
              <a:rPr lang="de-DE" sz="3200" dirty="0"/>
              <a:t> </a:t>
            </a:r>
            <a:endParaRPr lang="LID4096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53125D-D09F-A5E1-47BF-46FAC3347A26}"/>
              </a:ext>
            </a:extLst>
          </p:cNvPr>
          <p:cNvSpPr txBox="1"/>
          <p:nvPr/>
        </p:nvSpPr>
        <p:spPr>
          <a:xfrm>
            <a:off x="472696" y="1159223"/>
            <a:ext cx="9860968" cy="133735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Peer Incentivation via Reward Shaping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2-step protocol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Invariant under Reward-Drift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69FA3A-4FF5-86A6-DE46-C1D5775AD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96" y="2489867"/>
            <a:ext cx="8249801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69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BDC2F-DAFA-CB49-4752-728963EF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777C827-84AF-ACDE-EC92-5EA6355D0164}"/>
              </a:ext>
            </a:extLst>
          </p:cNvPr>
          <p:cNvSpPr txBox="1">
            <a:spLocks/>
          </p:cNvSpPr>
          <p:nvPr/>
        </p:nvSpPr>
        <p:spPr>
          <a:xfrm>
            <a:off x="472696" y="266915"/>
            <a:ext cx="10515600" cy="5358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/>
              <a:t>Small Changes to DRIVE-Reposority</a:t>
            </a:r>
            <a:endParaRPr lang="LID4096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2391F8-DE9A-6BE2-BBB3-505ABBEF45B1}"/>
              </a:ext>
            </a:extLst>
          </p:cNvPr>
          <p:cNvSpPr txBox="1"/>
          <p:nvPr/>
        </p:nvSpPr>
        <p:spPr>
          <a:xfrm>
            <a:off x="472696" y="1159223"/>
            <a:ext cx="9860968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Experiments do not seem to be executable out-of-the-box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Minor changes I had to make: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B1F2C5-A175-3125-C4CD-7CC985B6BF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475"/>
          <a:stretch>
            <a:fillRect/>
          </a:stretch>
        </p:blipFill>
        <p:spPr>
          <a:xfrm>
            <a:off x="749301" y="2763809"/>
            <a:ext cx="1803399" cy="2159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108236-21AD-A286-BF6E-0A1C0B378F69}"/>
              </a:ext>
            </a:extLst>
          </p:cNvPr>
          <p:cNvSpPr txBox="1"/>
          <p:nvPr/>
        </p:nvSpPr>
        <p:spPr>
          <a:xfrm>
            <a:off x="749300" y="3272714"/>
            <a:ext cx="195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memory.py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D817D5-6792-E393-893A-4DEB12E88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" y="3642046"/>
            <a:ext cx="4496427" cy="12860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D3862D7-66B9-C019-36A0-423E609D211B}"/>
              </a:ext>
            </a:extLst>
          </p:cNvPr>
          <p:cNvSpPr txBox="1"/>
          <p:nvPr/>
        </p:nvSpPr>
        <p:spPr>
          <a:xfrm>
            <a:off x="749300" y="2399111"/>
            <a:ext cx="195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settings.py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7C69BB-A813-BBA7-444A-9A68C2E360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210"/>
          <a:stretch>
            <a:fillRect/>
          </a:stretch>
        </p:blipFill>
        <p:spPr>
          <a:xfrm>
            <a:off x="2552700" y="2763809"/>
            <a:ext cx="3146425" cy="2159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E168BDF-0E8C-5BBC-21ED-3FA4201B99EE}"/>
              </a:ext>
            </a:extLst>
          </p:cNvPr>
          <p:cNvSpPr txBox="1"/>
          <p:nvPr/>
        </p:nvSpPr>
        <p:spPr>
          <a:xfrm>
            <a:off x="5699124" y="4100407"/>
            <a:ext cx="37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(Can‘t call .clear() on np.ndarray)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590A63-D79D-4EBD-4D40-019901C833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1081"/>
          <a:stretch>
            <a:fillRect/>
          </a:stretch>
        </p:blipFill>
        <p:spPr>
          <a:xfrm>
            <a:off x="749300" y="5698777"/>
            <a:ext cx="4745036" cy="2408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94409D-1993-C0DD-E237-D34C53D091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6974"/>
          <a:stretch>
            <a:fillRect/>
          </a:stretch>
        </p:blipFill>
        <p:spPr>
          <a:xfrm>
            <a:off x="749300" y="5947671"/>
            <a:ext cx="5245727" cy="24087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574E45A-B44C-CCF8-A8E0-7408850B7DE9}"/>
              </a:ext>
            </a:extLst>
          </p:cNvPr>
          <p:cNvSpPr txBox="1"/>
          <p:nvPr/>
        </p:nvSpPr>
        <p:spPr>
          <a:xfrm>
            <a:off x="749300" y="5297432"/>
            <a:ext cx="195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environment.py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4080A7-8E6A-907A-990D-F71A6BE80042}"/>
              </a:ext>
            </a:extLst>
          </p:cNvPr>
          <p:cNvSpPr txBox="1"/>
          <p:nvPr/>
        </p:nvSpPr>
        <p:spPr>
          <a:xfrm>
            <a:off x="6293484" y="5754987"/>
            <a:ext cx="37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(numpy.int is deprecated)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793D47-7BCA-99F4-B1F9-0859C4D3E9C7}"/>
              </a:ext>
            </a:extLst>
          </p:cNvPr>
          <p:cNvSpPr txBox="1"/>
          <p:nvPr/>
        </p:nvSpPr>
        <p:spPr>
          <a:xfrm>
            <a:off x="5995027" y="2687121"/>
            <a:ext cx="37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(torch does not recognize „gpu“)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149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A46AE-DCC6-6520-3AE9-04C8AB04E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72950B5-77BF-9CD0-44EC-473DC3F1F622}"/>
              </a:ext>
            </a:extLst>
          </p:cNvPr>
          <p:cNvSpPr txBox="1">
            <a:spLocks/>
          </p:cNvSpPr>
          <p:nvPr/>
        </p:nvSpPr>
        <p:spPr>
          <a:xfrm>
            <a:off x="472696" y="266915"/>
            <a:ext cx="10515600" cy="5358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/>
              <a:t>Communication Failure</a:t>
            </a:r>
            <a:endParaRPr lang="LID4096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47393-8EB7-A5FC-302D-E48B16809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96" y="3429000"/>
            <a:ext cx="10306545" cy="2683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881370-EBA7-CFF3-6705-8C5883B674FE}"/>
              </a:ext>
            </a:extLst>
          </p:cNvPr>
          <p:cNvSpPr txBox="1"/>
          <p:nvPr/>
        </p:nvSpPr>
        <p:spPr>
          <a:xfrm>
            <a:off x="472696" y="1159223"/>
            <a:ext cx="9860968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b="1" dirty="0"/>
              <a:t>parameters</a:t>
            </a:r>
            <a:r>
              <a:rPr lang="de-DE" dirty="0"/>
              <a:t>: </a:t>
            </a:r>
            <a:r>
              <a:rPr lang="de-DE" dirty="0">
                <a:latin typeface="Consolas" panose="020B0609020204030204" pitchFamily="49" charset="0"/>
              </a:rPr>
              <a:t>failing_communication_ratio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Idea</a:t>
            </a:r>
            <a:r>
              <a:rPr lang="en-US" dirty="0"/>
              <a:t>: each agent has x% chance that its DRIVE-Response gets lost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Implementation</a:t>
            </a:r>
            <a:r>
              <a:rPr lang="en-US" dirty="0"/>
              <a:t>: remove agents from neighborhoods with x% chance before DRIVE exchange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Edges of neighborhood graph are removed?</a:t>
            </a:r>
          </a:p>
        </p:txBody>
      </p:sp>
    </p:spTree>
    <p:extLst>
      <p:ext uri="{BB962C8B-B14F-4D97-AF65-F5344CB8AC3E}">
        <p14:creationId xmlns:p14="http://schemas.microsoft.com/office/powerpoint/2010/main" val="424473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C1A74-90B7-4B9E-EF4D-1C455D2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1EA96E-933E-8F15-887F-2CB412EB31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8" b="50000"/>
          <a:stretch>
            <a:fillRect/>
          </a:stretch>
        </p:blipFill>
        <p:spPr>
          <a:xfrm>
            <a:off x="472696" y="1550783"/>
            <a:ext cx="5552790" cy="4377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75BB0C-4B0A-5404-B631-6A8B0EEE1B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/>
          <a:stretch>
            <a:fillRect/>
          </a:stretch>
        </p:blipFill>
        <p:spPr>
          <a:xfrm>
            <a:off x="6096000" y="1518427"/>
            <a:ext cx="5552790" cy="444223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845A31C-2CA4-998D-370C-A4D43C25CC6F}"/>
              </a:ext>
            </a:extLst>
          </p:cNvPr>
          <p:cNvSpPr txBox="1">
            <a:spLocks/>
          </p:cNvSpPr>
          <p:nvPr/>
        </p:nvSpPr>
        <p:spPr>
          <a:xfrm>
            <a:off x="472696" y="266915"/>
            <a:ext cx="10515600" cy="5358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/>
              <a:t>Communication </a:t>
            </a:r>
            <a:r>
              <a:rPr lang="de-DE" sz="3200" dirty="0" err="1"/>
              <a:t>Failure</a:t>
            </a:r>
            <a:r>
              <a:rPr lang="de-DE" sz="3200" dirty="0"/>
              <a:t> (10% Prob.)</a:t>
            </a:r>
            <a:endParaRPr lang="LID4096" sz="3200" dirty="0"/>
          </a:p>
        </p:txBody>
      </p:sp>
    </p:spTree>
    <p:extLst>
      <p:ext uri="{BB962C8B-B14F-4D97-AF65-F5344CB8AC3E}">
        <p14:creationId xmlns:p14="http://schemas.microsoft.com/office/powerpoint/2010/main" val="4182010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2D2D5-6974-BDD4-080D-60E84DD7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58BA916-B28B-7ED9-333C-C6F621694A93}"/>
              </a:ext>
            </a:extLst>
          </p:cNvPr>
          <p:cNvSpPr txBox="1">
            <a:spLocks/>
          </p:cNvSpPr>
          <p:nvPr/>
        </p:nvSpPr>
        <p:spPr>
          <a:xfrm>
            <a:off x="472696" y="266915"/>
            <a:ext cx="10515600" cy="5358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/>
              <a:t>Communication Failure</a:t>
            </a:r>
            <a:endParaRPr lang="LID4096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8B095-71A6-6B49-CB23-ECD565ADBECD}"/>
              </a:ext>
            </a:extLst>
          </p:cNvPr>
          <p:cNvSpPr txBox="1"/>
          <p:nvPr/>
        </p:nvSpPr>
        <p:spPr>
          <a:xfrm>
            <a:off x="472696" y="5611175"/>
            <a:ext cx="407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IDP: very strange results for DRIVE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A84A2E-E05F-F862-FF0E-8A2CE8DBFC15}"/>
              </a:ext>
            </a:extLst>
          </p:cNvPr>
          <p:cNvSpPr txBox="1"/>
          <p:nvPr/>
        </p:nvSpPr>
        <p:spPr>
          <a:xfrm>
            <a:off x="6325973" y="5611175"/>
            <a:ext cx="539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Harvest: takes very long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ECB1A2-4A24-9985-FFF4-0F8E85EAC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79" b="48817"/>
          <a:stretch>
            <a:fillRect/>
          </a:stretch>
        </p:blipFill>
        <p:spPr>
          <a:xfrm>
            <a:off x="472695" y="1544123"/>
            <a:ext cx="5498391" cy="35411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4D3C05-643F-4054-17C3-9FB9199566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183"/>
          <a:stretch>
            <a:fillRect/>
          </a:stretch>
        </p:blipFill>
        <p:spPr>
          <a:xfrm>
            <a:off x="5971086" y="1544123"/>
            <a:ext cx="5440484" cy="354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03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6F5D6-D23D-11A0-EDC5-E18D9DB3E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D825907-CE6B-1159-9140-A70005AE6FBE}"/>
              </a:ext>
            </a:extLst>
          </p:cNvPr>
          <p:cNvSpPr txBox="1">
            <a:spLocks/>
          </p:cNvSpPr>
          <p:nvPr/>
        </p:nvSpPr>
        <p:spPr>
          <a:xfrm>
            <a:off x="472696" y="266915"/>
            <a:ext cx="10515600" cy="5358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/>
              <a:t>Response Misreporting</a:t>
            </a:r>
            <a:endParaRPr lang="LID4096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B26B69-5D83-B646-9B3D-3A00871B10D7}"/>
                  </a:ext>
                </a:extLst>
              </p:cNvPr>
              <p:cNvSpPr txBox="1"/>
              <p:nvPr/>
            </p:nvSpPr>
            <p:spPr>
              <a:xfrm>
                <a:off x="472696" y="1159223"/>
                <a:ext cx="11099872" cy="1713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de-DE" b="1" dirty="0"/>
                  <a:t>parameters</a:t>
                </a:r>
                <a:r>
                  <a:rPr lang="de-DE" dirty="0"/>
                  <a:t>: </a:t>
                </a:r>
                <a:r>
                  <a:rPr lang="en-US" dirty="0" err="1">
                    <a:latin typeface="Consolas" panose="020B0609020204030204" pitchFamily="49" charset="0"/>
                  </a:rPr>
                  <a:t>misreporting_agents_ratio</a:t>
                </a:r>
                <a:r>
                  <a:rPr lang="en-US" dirty="0">
                    <a:latin typeface="Consolas" panose="020B0609020204030204" pitchFamily="49" charset="0"/>
                  </a:rPr>
                  <a:t>, </a:t>
                </a:r>
                <a:r>
                  <a:rPr lang="en-US" dirty="0" err="1">
                    <a:latin typeface="Consolas" panose="020B0609020204030204" pitchFamily="49" charset="0"/>
                  </a:rPr>
                  <a:t>misreporting_agents_estimate_relative</a:t>
                </a:r>
                <a:endParaRPr lang="de-DE" dirty="0">
                  <a:latin typeface="Consolas" panose="020B0609020204030204" pitchFamily="49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Idea</a:t>
                </a:r>
                <a:r>
                  <a:rPr lang="en-US" dirty="0"/>
                  <a:t>: each agent reports an untruthfully low value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en-US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Implementation</a:t>
                </a:r>
                <a:r>
                  <a:rPr lang="en-US" dirty="0"/>
                  <a:t>: set the own estimate (epoch-average of rewards) to </a:t>
                </a:r>
                <a:r>
                  <a:rPr lang="en-US" dirty="0" err="1">
                    <a:latin typeface="Consolas" panose="020B0609020204030204" pitchFamily="49" charset="0"/>
                  </a:rPr>
                  <a:t>misreporting_agents_estimate_relative</a:t>
                </a:r>
                <a:r>
                  <a:rPr lang="en-US" dirty="0"/>
                  <a:t> times the lowest reward sent as a request to said agent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B26B69-5D83-B646-9B3D-3A00871B1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96" y="1159223"/>
                <a:ext cx="11099872" cy="1713354"/>
              </a:xfrm>
              <a:prstGeom prst="rect">
                <a:avLst/>
              </a:prstGeom>
              <a:blipFill>
                <a:blip r:embed="rId3"/>
                <a:stretch>
                  <a:fillRect l="-385" b="-4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7532968-35AB-43C0-8A54-DE8C23056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96" y="2961067"/>
            <a:ext cx="8551640" cy="349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993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F55F3-6348-CF65-7A92-0222902A0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2FD9D67-FD31-851C-DA00-C9B59EB00D45}"/>
              </a:ext>
            </a:extLst>
          </p:cNvPr>
          <p:cNvSpPr txBox="1">
            <a:spLocks/>
          </p:cNvSpPr>
          <p:nvPr/>
        </p:nvSpPr>
        <p:spPr>
          <a:xfrm>
            <a:off x="472696" y="266915"/>
            <a:ext cx="10515600" cy="5358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/>
              <a:t>Response Misreporting</a:t>
            </a:r>
            <a:endParaRPr lang="LID4096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762FA6-367F-A70D-E6D3-C4AABE2FFDCE}"/>
              </a:ext>
            </a:extLst>
          </p:cNvPr>
          <p:cNvSpPr txBox="1"/>
          <p:nvPr/>
        </p:nvSpPr>
        <p:spPr>
          <a:xfrm>
            <a:off x="472696" y="5611175"/>
            <a:ext cx="407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IDP: very strange results for DRIVE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C62919-2E23-A8F6-469A-25BBCDD80E10}"/>
              </a:ext>
            </a:extLst>
          </p:cNvPr>
          <p:cNvSpPr txBox="1"/>
          <p:nvPr/>
        </p:nvSpPr>
        <p:spPr>
          <a:xfrm>
            <a:off x="6325973" y="5611175"/>
            <a:ext cx="539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Harvest: takes very long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546D98-0380-0251-C65E-E25A4AC575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77"/>
          <a:stretch>
            <a:fillRect/>
          </a:stretch>
        </p:blipFill>
        <p:spPr>
          <a:xfrm>
            <a:off x="129594" y="1544123"/>
            <a:ext cx="5841492" cy="3677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3D986C-21B2-E27C-7702-5C479CA14E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296"/>
          <a:stretch>
            <a:fillRect/>
          </a:stretch>
        </p:blipFill>
        <p:spPr>
          <a:xfrm>
            <a:off x="5971086" y="1544122"/>
            <a:ext cx="5662511" cy="367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32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D0668-2854-5F9B-ACD7-7D1866405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Additional Environments (</a:t>
            </a:r>
            <a:r>
              <a:rPr lang="de-DE" dirty="0" err="1"/>
              <a:t>Thoughts</a:t>
            </a:r>
            <a:r>
              <a:rPr lang="de-DE" dirty="0"/>
              <a:t>):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821E0E-FEE5-332B-64CF-E86EFCAFDE99}"/>
              </a:ext>
            </a:extLst>
          </p:cNvPr>
          <p:cNvSpPr txBox="1"/>
          <p:nvPr/>
        </p:nvSpPr>
        <p:spPr>
          <a:xfrm>
            <a:off x="838200" y="2028597"/>
            <a:ext cx="60968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Hanabi (2 or 3 players)</a:t>
            </a:r>
            <a:br>
              <a:rPr lang="en-GB" dirty="0"/>
            </a:br>
            <a:r>
              <a:rPr lang="en-GB" dirty="0"/>
              <a:t>used by Google </a:t>
            </a:r>
            <a:r>
              <a:rPr lang="en-GB" dirty="0" err="1"/>
              <a:t>Deepmind</a:t>
            </a:r>
            <a:r>
              <a:rPr lang="en-GB" dirty="0"/>
              <a:t> [</a:t>
            </a:r>
            <a:r>
              <a:rPr lang="en-GB" dirty="0">
                <a:hlinkClick r:id="rId2"/>
              </a:rPr>
              <a:t>Google </a:t>
            </a:r>
            <a:r>
              <a:rPr lang="en-GB" dirty="0" err="1">
                <a:hlinkClick r:id="rId2"/>
              </a:rPr>
              <a:t>Deepmind|Hanabi</a:t>
            </a:r>
            <a:r>
              <a:rPr lang="en-GB" dirty="0"/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F6F1C7-B38C-6C48-2495-0FCAEDD69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825" y="1690688"/>
            <a:ext cx="3609975" cy="2700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873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</TotalTime>
  <Words>279</Words>
  <Application>Microsoft Office PowerPoint</Application>
  <PresentationFormat>Widescreen</PresentationFormat>
  <Paragraphs>50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Consolas</vt:lpstr>
      <vt:lpstr>Office Theme</vt:lpstr>
      <vt:lpstr>Master Thesis Updates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Additional Environments (Thoughts):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Moritz Sölderer</dc:creator>
  <cp:lastModifiedBy>Moritz Sölderer</cp:lastModifiedBy>
  <cp:revision>7</cp:revision>
  <dcterms:created xsi:type="dcterms:W3CDTF">2026-04-15T18:37:10Z</dcterms:created>
  <dcterms:modified xsi:type="dcterms:W3CDTF">2026-04-17T00:39:16Z</dcterms:modified>
</cp:coreProperties>
</file>